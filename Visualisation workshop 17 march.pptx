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63" r:id="rId11"/>
    <p:sldId id="261" r:id="rId1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0000"/>
    <a:srgbClr val="9A36FA"/>
    <a:srgbClr val="6BBBAA"/>
    <a:srgbClr val="4B210E"/>
    <a:srgbClr val="66B4FB"/>
    <a:srgbClr val="DB00D3"/>
    <a:srgbClr val="D5AB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18"/>
    <p:restoredTop sz="78542"/>
  </p:normalViewPr>
  <p:slideViewPr>
    <p:cSldViewPr snapToGrid="0">
      <p:cViewPr>
        <p:scale>
          <a:sx n="102" d="100"/>
          <a:sy n="102" d="100"/>
        </p:scale>
        <p:origin x="6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BD0A5-ED06-8440-BCAC-056E8747BA57}" type="datetimeFigureOut">
              <a:rPr lang="en-SE" smtClean="0"/>
              <a:t>2026-03-17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50744-06C1-B74C-AC15-AD3466E1B96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2917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Hello everyone. I'm a research engineer. My background is in Data Science and my job is to build tools that help researchers answer their questions - research development like Matts mentioned earlier.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Today’s session is about visualization as an analytical method. I’ll begin with a dashboard case study, then move into very basic chart types, when to use them, and finally a short Python workshop.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90411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digital humanities, data is rarely perfectly clean. Visualization helps us not only summarize content, but also see the structure and limitations of the data itself.</a:t>
            </a:r>
            <a:endParaRPr lang="en-S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85163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062C-D7A5-FA88-AFF3-4FF0BDA1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4B1C7F-1565-ECCC-E80B-F9381F315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31D55-5BE8-E982-09EC-47BA513DB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key idea is that chart choice should follow the analytical question. Different visual forms support different kinds of interpretation.</a:t>
            </a: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98598-313E-B345-D293-76466364D5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87721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78E1-710A-FE27-1F99-32CEFD69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C2D7F0-0BCF-EB59-3B93-15C3F5B3B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B1635-3F9F-928C-A9C9-B55892E0F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Histogram Continuous numerical data, Bar Chart Categorical data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one of the most useful heuristics in visualization design. Think in terms of tasks and outcomes.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you can play with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representation for certain class etc for example scatter plot</a:t>
            </a:r>
          </a:p>
          <a:p>
            <a:pPr marL="171450" indent="-171450">
              <a:buFontTx/>
              <a:buChar char="-"/>
            </a:pP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36B82-31FE-7D90-3513-556220051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45504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CAD9-0081-FF7B-47B7-025429A40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8BD4DC-4B3F-066A-4818-023D18B5B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363863-DFCD-29DC-B550-507EE0AB7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in doubt, use a bar chart.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 compare lengths more accurately than angles. That is why bar charts are usually easier to read than pie charts.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matters a lot in dashboards. Often one chart cannot do everything, so we use multiple linked views.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earlier slides to show bar visualisations</a:t>
            </a: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3CC44-C231-957B-D396-403F57FBB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50841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E318-3045-E988-40EB-3611B59EB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17995-EDE0-B7C2-9A3D-0C00B28AB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050EB-4EFB-4842-596D-C466B18B4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historical and cultural data, time often matters a great deal. The form depends on whether the data is continuous, event-based, or count-based.</a:t>
            </a:r>
            <a:br>
              <a:rPr lang="en-GB" dirty="0"/>
            </a:b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55104-88A7-5302-CDD9-153BBDD00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10843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5E40-8969-A0D1-E5AF-0BD1C2E1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A5458-AF04-32B6-AE0B-6C95FC83BE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E6357-BA32-6F1B-D97E-3E6F5CFF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dashboards, charts and tables should complement each other. The chart gives overview; the table gives precision.</a:t>
            </a: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75BF7-79C3-34E3-F02B-FCF58628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85350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6C42-2CAF-4670-B489-979F0215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4E0EF-ADA1-1B98-DFDC-721335482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6F989-4B5F-F9A5-085B-E77AD5639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 is not neutral. It shapes what viewers think is large, small, stable, or dramatic.’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Raw values answer: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how much?</a:t>
            </a:r>
            <a:br>
              <a:rPr lang="en-GB" dirty="0"/>
            </a:br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 values answer: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compared to what size?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categories differ greatly in size, raw counts may mislead. Normalization helps us compare fairly.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Often the best choice is to show both absolute and normalized values.</a:t>
            </a: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4554D-4823-39B9-DA99-87C5B30AE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7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68461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96AE1-90E5-AF20-7530-749FD6A2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237ACA-384C-04CD-C14B-7E33EFC00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7AF1F-774A-DF82-AB0C-36FC74714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dashboards, charts and tables should complement each other. The chart gives overview; the table gives precision.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dashboard should support a workflow. Users should be able to move from overview to anomaly detection to inspection.</a:t>
            </a:r>
          </a:p>
          <a:p>
            <a:pPr marL="171450" indent="-171450">
              <a:buFontTx/>
              <a:buChar char="-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now 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the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swemper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dashboard</a:t>
            </a:r>
            <a:endParaRPr lang="en-SE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SE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C93D9-829E-B2E6-616B-4485420D59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38670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750744-06C1-B74C-AC15-AD3466E1B966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2854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B23C1-F6D2-F17F-38EA-417262E91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D3449-0A1A-A753-C73F-EC996E705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5331E-AD70-6514-422E-116C1511B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6F380-3C45-9B43-99ED-90317EA3117F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AD49-B277-0206-9213-A72D0E4E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1572BC-3399-0E28-323C-26E9CBE1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7209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6160-88E5-73A2-8589-35B9AC2A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9D659-77BC-054A-8C4E-4066982DC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B149F-E93F-34BB-8706-972043619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964C1-4B20-3F4B-AC2D-8C863E9C9E28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F41FE-2FA0-8594-4008-D3262B429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BC4BC-09FA-7932-A434-545CA047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429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5C3-E19D-3F62-EDD8-4FA7FE90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256C6-18ED-13C7-4B9E-32769C580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1F166-4A9B-7569-AA05-6654CD9C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6985E-CE9A-5244-9FCB-9FB1D1D8ED87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729B4-5204-A393-5B93-71A948F1E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9047F-E0D3-9DFD-A63B-E098E41C3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99282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C22F-DE39-7C50-D348-30AC90D6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195EC-7B80-8EAC-F194-450C419011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F59C0-7EB8-2E4F-F165-B30F247B2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7E036-11F6-C2DD-BAAF-CDC24EAA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84D5-0FC9-B045-916F-959A2148A335}" type="datetime1">
              <a:rPr lang="sv-SE" smtClean="0"/>
              <a:t>2026-03-17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607F2-84BC-FEE2-B0CC-FB06CDA37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9EA256-72CE-5EF3-A111-9F277F54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277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D6FCD-A3C4-A3C0-AAC3-9DCBE01D6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24800-0623-B9A4-47F4-9CCE70992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ACCE3-47B7-A058-07F5-6D6843666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A5E38-D7D8-4E0A-5588-353388407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A708C-112E-D851-32AE-7361B93E4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03B10-7C60-F081-90A5-72FACCB6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B4543-944D-7E4A-83F5-FF566E8F90AE}" type="datetime1">
              <a:rPr lang="sv-SE" smtClean="0"/>
              <a:t>2026-03-17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7F8AF-31C8-F14E-B3E0-870D50D4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D3EAB7-3515-842D-5E27-601009B5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73962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742A5-B0B0-BF62-2E85-2E642C01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2DD21-FED6-C925-55BB-A9DE501E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36EC4-FFAD-9C49-AB37-2CA1D1B9DDBB}" type="datetime1">
              <a:rPr lang="sv-SE" smtClean="0"/>
              <a:t>2026-03-17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B7D8B-0AAF-D8D9-0819-1CE3A1394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43BA4-C67B-B4F7-F21B-ED2E516D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39939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8639E-FF08-D838-D3BC-6B7E7292A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EE4BE-68DE-AC43-B80A-83DC4622BE14}" type="datetime1">
              <a:rPr lang="sv-SE" smtClean="0"/>
              <a:t>2026-03-17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1B412-0192-0081-723C-0202674A7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FD520-2C9E-2F69-CE28-948826C45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21659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853E-E75F-71CB-0CAD-A5CC2B522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29D2-A1FA-89AA-861A-ADCCFCD90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4F8340-C8F4-CA3C-7617-A7C0C7D27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FE8-6F62-7238-6818-6BFB4AB5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C12ED-2CAF-154B-A95D-B750909E588C}" type="datetime1">
              <a:rPr lang="sv-SE" smtClean="0"/>
              <a:t>2026-03-17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C5BD8-E7FA-AF06-1984-A189B2FE3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5D942-2C64-3AA7-0340-37224AFA9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6395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C47B-247A-6E78-5309-733CDFBB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89FC66-995C-06C7-1305-44DF886CF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9D4FF-361D-E410-B797-61E8553B0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37CE1-8EC6-FBCE-1CAB-F393507C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4BEFA-413A-EF45-977D-60EA33A8921D}" type="datetime1">
              <a:rPr lang="sv-SE" smtClean="0"/>
              <a:t>2026-03-17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E3E0D-ADB1-B0C8-9D13-50FBF2229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D179F-7849-1721-9A67-F1C51460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8973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85BC-9BE9-6A38-CBCC-62AC438E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877F8-9BC1-7B7F-9BA6-0D288C9D5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F5753-83DD-850A-E695-C677587E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429AB-DF2F-024B-86A3-A37E855D9CC4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BE075-4F96-25EA-B1D3-3124167A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BE7D8-FB14-F1C1-5D9D-A3DC1CF1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8215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B3819-0826-2BB4-F891-74DF45B9B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A82C7-D350-743C-56D8-34EFED1EA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AF27-BD5F-49D9-49A6-22F946540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0014A-26CF-B146-8307-DD8D3ED46875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63C15-7CFE-7BA5-2178-17108A64B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C9FB0-5CD7-DCB4-F53E-ADD02402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4614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E5E74-2222-E51D-247A-E91262C7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154B8-C628-59B6-39CD-835D7CE2C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9EAA7-9182-3A20-7921-F7A642D173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644BF-5115-E64F-A855-14B6E0C5B846}" type="datetime1">
              <a:rPr lang="sv-SE" smtClean="0"/>
              <a:t>2026-03-17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B3CC0-58D3-BE4A-F5F2-24714DC31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22812-D21D-4DFC-4A47-11631EF25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19EE7-A496-034D-B96C-56D03CB7B932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4390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A1A7-FA68-9AA9-E822-509C03CC8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1633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Visualizations in Digital Humanities</a:t>
            </a:r>
            <a:endParaRPr lang="en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32D03-A4C5-5576-9F8C-B13561611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3944"/>
            <a:ext cx="8900160" cy="646331"/>
          </a:xfrm>
        </p:spPr>
        <p:txBody>
          <a:bodyPr/>
          <a:lstStyle/>
          <a:p>
            <a:r>
              <a:rPr lang="en-SE" dirty="0"/>
              <a:t>Sushruth Badri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C5CE3C2-2AC8-1C5F-AC51-3E867C00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5005387"/>
            <a:ext cx="1447800" cy="146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890708-B381-BC67-D1CE-BEFC3CD69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0" y="4419600"/>
            <a:ext cx="2438400" cy="2438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E559E1-8229-A036-333F-41BB24A62F55}"/>
              </a:ext>
            </a:extLst>
          </p:cNvPr>
          <p:cNvSpPr txBox="1"/>
          <p:nvPr/>
        </p:nvSpPr>
        <p:spPr>
          <a:xfrm>
            <a:off x="2797629" y="4876800"/>
            <a:ext cx="6792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1800" dirty="0">
                <a:latin typeface="Gill Sans MT" panose="020B0502020104020203" pitchFamily="34" charset="77"/>
              </a:rPr>
              <a:t>Centre for Digital </a:t>
            </a:r>
            <a:r>
              <a:rPr lang="sv-SE" sz="1800" dirty="0" err="1">
                <a:latin typeface="Gill Sans MT" panose="020B0502020104020203" pitchFamily="34" charset="77"/>
              </a:rPr>
              <a:t>Humanities</a:t>
            </a:r>
            <a:r>
              <a:rPr lang="sv-SE" sz="1800" dirty="0">
                <a:latin typeface="Gill Sans MT" panose="020B0502020104020203" pitchFamily="34" charset="77"/>
              </a:rPr>
              <a:t> and Social Sciences</a:t>
            </a:r>
          </a:p>
          <a:p>
            <a:pPr algn="ctr"/>
            <a:r>
              <a:rPr lang="sv-SE" sz="1800" dirty="0" err="1">
                <a:latin typeface="Gill Sans MT" panose="020B0502020104020203" pitchFamily="34" charset="77"/>
              </a:rPr>
              <a:t>Department</a:t>
            </a:r>
            <a:r>
              <a:rPr lang="sv-SE" sz="1800" dirty="0">
                <a:latin typeface="Gill Sans MT" panose="020B0502020104020203" pitchFamily="34" charset="77"/>
              </a:rPr>
              <a:t> </a:t>
            </a:r>
            <a:r>
              <a:rPr lang="sv-SE" sz="1800" dirty="0" err="1">
                <a:latin typeface="Gill Sans MT" panose="020B0502020104020203" pitchFamily="34" charset="77"/>
              </a:rPr>
              <a:t>of</a:t>
            </a:r>
            <a:r>
              <a:rPr lang="sv-SE" sz="1800" dirty="0">
                <a:latin typeface="Gill Sans MT" panose="020B0502020104020203" pitchFamily="34" charset="77"/>
              </a:rPr>
              <a:t> ALM</a:t>
            </a:r>
          </a:p>
          <a:p>
            <a:pPr algn="ctr"/>
            <a:r>
              <a:rPr lang="sv-SE" sz="1800" dirty="0">
                <a:latin typeface="Gill Sans MT" panose="020B0502020104020203" pitchFamily="34" charset="77"/>
              </a:rPr>
              <a:t>Uppsala University</a:t>
            </a:r>
          </a:p>
          <a:p>
            <a:endParaRPr lang="en-SE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2312009-A98B-C959-3F7B-72AA77C5C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0</a:t>
            </a:fld>
            <a:endParaRPr lang="en-S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6EB3DD9-129C-69C0-3C01-71341BC493DB}"/>
              </a:ext>
            </a:extLst>
          </p:cNvPr>
          <p:cNvSpPr/>
          <p:nvPr/>
        </p:nvSpPr>
        <p:spPr>
          <a:xfrm>
            <a:off x="11152095" y="6494462"/>
            <a:ext cx="201705" cy="10953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48FE9-6764-775E-3DF4-CD9AEBA5C5D0}"/>
              </a:ext>
            </a:extLst>
          </p:cNvPr>
          <p:cNvSpPr txBox="1"/>
          <p:nvPr/>
        </p:nvSpPr>
        <p:spPr>
          <a:xfrm>
            <a:off x="1524000" y="3205983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Case study: </a:t>
            </a:r>
            <a:r>
              <a:rPr lang="en-SE" dirty="0"/>
              <a:t>Swemper Dataset Explorer</a:t>
            </a:r>
          </a:p>
          <a:p>
            <a:pPr algn="ctr"/>
            <a:r>
              <a:rPr lang="en-SE" b="1" dirty="0"/>
              <a:t>Workshop: </a:t>
            </a:r>
            <a:r>
              <a:rPr lang="en-GB" dirty="0"/>
              <a:t>Basic visualizations in Python with book metadata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6480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AF5A-CDF1-1223-9903-AE3A1A714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2918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Why visualization matters in Digital Humanities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D43FB-A517-9705-91A6-CCE2CECB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1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E5C44-C05B-83AF-E70F-CF3E42AE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DA4A6-4BA5-B31D-23CC-2DFC0832C410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360C0-0698-AC1E-C012-BAE5CCBFCDED}"/>
              </a:ext>
            </a:extLst>
          </p:cNvPr>
          <p:cNvSpPr txBox="1"/>
          <p:nvPr/>
        </p:nvSpPr>
        <p:spPr>
          <a:xfrm>
            <a:off x="954741" y="1547276"/>
            <a:ext cx="9197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DH data is often: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Large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Heterogeneous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Incomplete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Historical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Metadata-heavy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17313-9A4A-29A2-AEEF-6A4B42AFB9C8}"/>
              </a:ext>
            </a:extLst>
          </p:cNvPr>
          <p:cNvSpPr txBox="1"/>
          <p:nvPr/>
        </p:nvSpPr>
        <p:spPr>
          <a:xfrm>
            <a:off x="954741" y="3665629"/>
            <a:ext cx="9197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Visualizations help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Compare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Explore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Detect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Reveal gaps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Communicate findings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41258C-AA11-E8D7-999C-3603D2DE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691" y="2117205"/>
            <a:ext cx="7060759" cy="27117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5E75D5A-1203-2E44-3544-BDB55D193F9D}"/>
              </a:ext>
            </a:extLst>
          </p:cNvPr>
          <p:cNvSpPr txBox="1"/>
          <p:nvPr/>
        </p:nvSpPr>
        <p:spPr>
          <a:xfrm>
            <a:off x="4728754" y="5000625"/>
            <a:ext cx="7047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A stacked bar graph over time from the swemper dashboard</a:t>
            </a:r>
          </a:p>
        </p:txBody>
      </p:sp>
    </p:spTree>
    <p:extLst>
      <p:ext uri="{BB962C8B-B14F-4D97-AF65-F5344CB8AC3E}">
        <p14:creationId xmlns:p14="http://schemas.microsoft.com/office/powerpoint/2010/main" val="99740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3DCAD-8AFD-C384-CEA9-80C2ABE5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B30F-1F06-8A8E-8B1E-3975EE448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2918"/>
          </a:xfrm>
        </p:spPr>
        <p:txBody>
          <a:bodyPr>
            <a:normAutofit/>
          </a:bodyPr>
          <a:lstStyle/>
          <a:p>
            <a:r>
              <a:rPr lang="en-GB" b="1" dirty="0"/>
              <a:t>Start with the question, not the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8CC79-8E2B-25D1-2431-931DACFA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2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594F5-8EEE-9E51-4BEA-E7BC59F8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C6335F-EB62-1C0E-86ED-64510E3E3CC1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7744F9-2094-471A-1B21-A9DB22BEC8CC}"/>
              </a:ext>
            </a:extLst>
          </p:cNvPr>
          <p:cNvSpPr txBox="1"/>
          <p:nvPr/>
        </p:nvSpPr>
        <p:spPr>
          <a:xfrm>
            <a:off x="954741" y="1547276"/>
            <a:ext cx="9197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Before choosing a chart, ask: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What do I want to know?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Am I comparing categories?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Am I looking at change over time?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Am I showing part-to-whole?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Do exact values matter?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Do I need raw values or normalized ones?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40BA11-52EB-B778-19E2-44170AED3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3472" y="1505891"/>
            <a:ext cx="1799985" cy="4145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35321E-CA30-779E-E44B-E50F240D2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987" y="1488044"/>
            <a:ext cx="2033602" cy="41454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9C1BC3-67B3-6B94-0FB4-B060C90697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7993" y="3866235"/>
            <a:ext cx="3412228" cy="26381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C9C811-837D-EAF8-E525-9315004D7413}"/>
              </a:ext>
            </a:extLst>
          </p:cNvPr>
          <p:cNvSpPr txBox="1"/>
          <p:nvPr/>
        </p:nvSpPr>
        <p:spPr>
          <a:xfrm>
            <a:off x="8860987" y="5651311"/>
            <a:ext cx="203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Ring chart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B487FC-4180-AD89-25BD-0002D1D8871F}"/>
              </a:ext>
            </a:extLst>
          </p:cNvPr>
          <p:cNvSpPr txBox="1"/>
          <p:nvPr/>
        </p:nvSpPr>
        <p:spPr>
          <a:xfrm>
            <a:off x="6333472" y="5835977"/>
            <a:ext cx="203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Bar graph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661E8-4938-A459-FE7A-137DB49C59DB}"/>
              </a:ext>
            </a:extLst>
          </p:cNvPr>
          <p:cNvSpPr txBox="1"/>
          <p:nvPr/>
        </p:nvSpPr>
        <p:spPr>
          <a:xfrm>
            <a:off x="337637" y="5184626"/>
            <a:ext cx="1436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Stacked Bar graph</a:t>
            </a:r>
          </a:p>
        </p:txBody>
      </p:sp>
    </p:spTree>
    <p:extLst>
      <p:ext uri="{BB962C8B-B14F-4D97-AF65-F5344CB8AC3E}">
        <p14:creationId xmlns:p14="http://schemas.microsoft.com/office/powerpoint/2010/main" val="130334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548E6-41AA-2287-2A12-82B702A8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F93D2-37E9-768C-3781-2C4E600D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22918"/>
          </a:xfrm>
        </p:spPr>
        <p:txBody>
          <a:bodyPr>
            <a:normAutofit/>
          </a:bodyPr>
          <a:lstStyle/>
          <a:p>
            <a:r>
              <a:rPr lang="en-GB" b="1" dirty="0"/>
              <a:t>Match chart to analytical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9269-B9AC-9A28-A00F-BE85D13CF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3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265B6-CA14-8C52-8D29-FDA3234F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00CCA8-3ACD-2714-F321-A8CA7F395F31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8FB712-449E-680F-B7AF-5647FC198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528354"/>
              </p:ext>
            </p:extLst>
          </p:nvPr>
        </p:nvGraphicFramePr>
        <p:xfrm>
          <a:off x="838200" y="1634066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397756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4310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type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Useful visualization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20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categories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Bar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85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part-to-whole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Pie chart, stacked bar, 100% stacked bar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14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change over time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 chart, bar chart over time, timeline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378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distribution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Histogram, box plot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20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relationships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Scatter plot</a:t>
                      </a:r>
                      <a:endParaRPr lang="en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07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 exact values and metadata</a:t>
                      </a:r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GB" dirty="0">
                          <a:effectLst/>
                        </a:rPr>
                        <a:t>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051608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E3C6944-B1DC-2C7F-2F17-8A950F80B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77" y="4375968"/>
            <a:ext cx="4132580" cy="2199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44BCDF-155B-4895-8DDE-BA1917FFC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8678" y="4375968"/>
            <a:ext cx="2743200" cy="21997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BBA053-E1C4-A473-E518-709ABF6CAE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9940" y="2129660"/>
            <a:ext cx="2889278" cy="30337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885E31-FF01-0886-0749-420EA6996E56}"/>
              </a:ext>
            </a:extLst>
          </p:cNvPr>
          <p:cNvSpPr txBox="1"/>
          <p:nvPr/>
        </p:nvSpPr>
        <p:spPr>
          <a:xfrm>
            <a:off x="9098081" y="5000625"/>
            <a:ext cx="281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Box plot</a:t>
            </a:r>
          </a:p>
        </p:txBody>
      </p:sp>
    </p:spTree>
    <p:extLst>
      <p:ext uri="{BB962C8B-B14F-4D97-AF65-F5344CB8AC3E}">
        <p14:creationId xmlns:p14="http://schemas.microsoft.com/office/powerpoint/2010/main" val="353947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9B60B1-1856-EDF8-7064-A7B31D5B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EB2A-7662-0CB4-785F-429F87C34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8141"/>
          </a:xfrm>
        </p:spPr>
        <p:txBody>
          <a:bodyPr>
            <a:normAutofit/>
          </a:bodyPr>
          <a:lstStyle/>
          <a:p>
            <a:r>
              <a:rPr lang="en-GB" b="1" dirty="0"/>
              <a:t>Compare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F513F-3008-1D8E-A280-82D06758E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4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5875D-3C68-0EE8-CBC0-54A4085E4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3FA257-B445-65EE-5715-DDA95345AF50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1BF1316-3B93-DBAD-A231-545AB3519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856852"/>
              </p:ext>
            </p:extLst>
          </p:nvPr>
        </p:nvGraphicFramePr>
        <p:xfrm>
          <a:off x="838200" y="1172846"/>
          <a:ext cx="5549538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4769">
                  <a:extLst>
                    <a:ext uri="{9D8B030D-6E8A-4147-A177-3AD203B41FA5}">
                      <a16:colId xmlns:a16="http://schemas.microsoft.com/office/drawing/2014/main" val="939417221"/>
                    </a:ext>
                  </a:extLst>
                </a:gridCol>
                <a:gridCol w="2774769">
                  <a:extLst>
                    <a:ext uri="{9D8B030D-6E8A-4147-A177-3AD203B41FA5}">
                      <a16:colId xmlns:a16="http://schemas.microsoft.com/office/drawing/2014/main" val="40111298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 charts</a:t>
                      </a:r>
                      <a:endParaRPr lang="en-GB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Pie charts</a:t>
                      </a:r>
                      <a:endParaRPr lang="en-GB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02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 comparing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only useful for simple part-to-whole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083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support precise visual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with very few categories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264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 well with many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harder to compare precisely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5492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14E2304-1847-1205-72BA-E180D1892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463" y="1695837"/>
            <a:ext cx="4838337" cy="2428402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26BC0F3-E6AF-FCEE-6F98-F82D6B1EC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40581"/>
              </p:ext>
            </p:extLst>
          </p:nvPr>
        </p:nvGraphicFramePr>
        <p:xfrm>
          <a:off x="838200" y="4540560"/>
          <a:ext cx="8130903" cy="2138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785">
                  <a:extLst>
                    <a:ext uri="{9D8B030D-6E8A-4147-A177-3AD203B41FA5}">
                      <a16:colId xmlns:a16="http://schemas.microsoft.com/office/drawing/2014/main" val="233793720"/>
                    </a:ext>
                  </a:extLst>
                </a:gridCol>
                <a:gridCol w="2709817">
                  <a:extLst>
                    <a:ext uri="{9D8B030D-6E8A-4147-A177-3AD203B41FA5}">
                      <a16:colId xmlns:a16="http://schemas.microsoft.com/office/drawing/2014/main" val="1881439471"/>
                    </a:ext>
                  </a:extLst>
                </a:gridCol>
                <a:gridCol w="2710301">
                  <a:extLst>
                    <a:ext uri="{9D8B030D-6E8A-4147-A177-3AD203B41FA5}">
                      <a16:colId xmlns:a16="http://schemas.microsoft.com/office/drawing/2014/main" val="1306690962"/>
                    </a:ext>
                  </a:extLst>
                </a:gridCol>
              </a:tblGrid>
              <a:tr h="583826"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Stacked bar chart</a:t>
                      </a:r>
                      <a:endParaRPr lang="en-GB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Grouped bar chart</a:t>
                      </a:r>
                      <a:endParaRPr lang="en-GB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 stacked bar chart</a:t>
                      </a:r>
                      <a:endParaRPr lang="en-GB" sz="1800" b="0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035728"/>
                  </a:ext>
                </a:extLst>
              </a:tr>
              <a:tr h="5838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shows total + 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better for comparing subcategories directly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 comparing proportions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11650"/>
                  </a:ext>
                </a:extLst>
              </a:tr>
              <a:tr h="583826">
                <a:tc>
                  <a:txBody>
                    <a:bodyPr/>
                    <a:lstStyle/>
                    <a:p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good for overview</a:t>
                      </a:r>
                      <a:r>
                        <a:rPr lang="en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but </a:t>
                      </a: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harder to compare inner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become cluttered</a:t>
                      </a:r>
                      <a:r>
                        <a:rPr lang="en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if many subcategories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hides total size differences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354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79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B37C3E-49C9-8233-51BD-9ED9549D2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91B47-AF83-FB21-A0D2-2C508E14B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8141"/>
          </a:xfrm>
        </p:spPr>
        <p:txBody>
          <a:bodyPr>
            <a:normAutofit/>
          </a:bodyPr>
          <a:lstStyle/>
          <a:p>
            <a:r>
              <a:rPr lang="en-GB" b="1" dirty="0"/>
              <a:t>Compare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59EBE-7D27-B6BC-CBC4-53FC46C1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5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6E524-1257-931E-81C0-C7A27E71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1A511F-D858-FDE2-F4D8-E6A5C2A877C8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62AB5-F586-9459-3AE0-5769768A15A7}"/>
              </a:ext>
            </a:extLst>
          </p:cNvPr>
          <p:cNvSpPr txBox="1"/>
          <p:nvPr/>
        </p:nvSpPr>
        <p:spPr>
          <a:xfrm>
            <a:off x="954741" y="1547276"/>
            <a:ext cx="91977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Use time-based charts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chronology matters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you want to see trends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you want to identify peaks, gaps, or periods of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Common 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Line chart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Bar chart over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Event timeline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0E4DAF-4F11-98D9-068E-CB818E7A2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332" y="4200826"/>
            <a:ext cx="7772400" cy="15109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D15D3F-3BE2-B5AF-5D58-7CBE79FD9CE5}"/>
              </a:ext>
            </a:extLst>
          </p:cNvPr>
          <p:cNvSpPr txBox="1"/>
          <p:nvPr/>
        </p:nvSpPr>
        <p:spPr>
          <a:xfrm>
            <a:off x="1058091" y="5786846"/>
            <a:ext cx="6957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dirty="0"/>
              <a:t>Timeline for journals in the swemper dataset</a:t>
            </a:r>
          </a:p>
        </p:txBody>
      </p:sp>
    </p:spTree>
    <p:extLst>
      <p:ext uri="{BB962C8B-B14F-4D97-AF65-F5344CB8AC3E}">
        <p14:creationId xmlns:p14="http://schemas.microsoft.com/office/powerpoint/2010/main" val="285458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2BEC1-00DA-4819-CA92-07935766F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6097-7826-5BD7-4797-A26759EB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8141"/>
          </a:xfrm>
        </p:spPr>
        <p:txBody>
          <a:bodyPr>
            <a:normAutofit/>
          </a:bodyPr>
          <a:lstStyle/>
          <a:p>
            <a:r>
              <a:rPr lang="en-GB" b="1" dirty="0"/>
              <a:t>Compare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BCDAB-3ADA-FBEA-374B-CA3F3511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6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CBE10-D22D-36E7-B06C-9502773D1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4374FC-4CA1-6AF7-AF66-628EA4245E1E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E124A4-CB35-C10A-FB11-A07B563F1D95}"/>
              </a:ext>
            </a:extLst>
          </p:cNvPr>
          <p:cNvSpPr txBox="1"/>
          <p:nvPr/>
        </p:nvSpPr>
        <p:spPr>
          <a:xfrm>
            <a:off x="954741" y="1547276"/>
            <a:ext cx="9197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Tables are useful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exact values matter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users need lookup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metadata status matters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detail is more important than visual 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Charts are useful when: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pattern matters more than exact numbers</a:t>
            </a:r>
          </a:p>
        </p:txBody>
      </p:sp>
    </p:spTree>
    <p:extLst>
      <p:ext uri="{BB962C8B-B14F-4D97-AF65-F5344CB8AC3E}">
        <p14:creationId xmlns:p14="http://schemas.microsoft.com/office/powerpoint/2010/main" val="176188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CF1C1-2348-682C-02C5-737FB0B12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76CD-25A9-BC2D-1410-F057FD9A4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8141"/>
          </a:xfrm>
        </p:spPr>
        <p:txBody>
          <a:bodyPr>
            <a:normAutofit/>
          </a:bodyPr>
          <a:lstStyle/>
          <a:p>
            <a:r>
              <a:rPr lang="en-GB" b="1" dirty="0"/>
              <a:t>Scale and normalisation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7163B-D117-0D3B-CA01-4D145FF9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7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D30F79-35CA-AC45-7609-B7AE5C6A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A54339-CDC6-E717-2822-BD72EC508F0F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01AF9-F0F6-128F-3AE0-6E81BCB701AC}"/>
              </a:ext>
            </a:extLst>
          </p:cNvPr>
          <p:cNvSpPr txBox="1"/>
          <p:nvPr/>
        </p:nvSpPr>
        <p:spPr>
          <a:xfrm>
            <a:off x="954741" y="1547276"/>
            <a:ext cx="91977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Why scale: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Scale changes interpretation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Bar charts usually need a zero baseline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Log scales can help with very uneven values, but must be explained clearly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Normalisation matters too: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Normalization = making values comparable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Examples: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books per year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images per article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dirty="0"/>
              <a:t>counts per 100 pages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4E8756-85F7-0665-71AA-473A238712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47279"/>
            <a:ext cx="2853698" cy="3715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9C313CB-99D5-1E45-ED19-16411E717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905" y="2847279"/>
            <a:ext cx="2853698" cy="371566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DF7CA84-7FA9-D082-A6C5-4C6903488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843407"/>
              </p:ext>
            </p:extLst>
          </p:nvPr>
        </p:nvGraphicFramePr>
        <p:xfrm>
          <a:off x="205397" y="4569044"/>
          <a:ext cx="5707396" cy="1919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698">
                  <a:extLst>
                    <a:ext uri="{9D8B030D-6E8A-4147-A177-3AD203B41FA5}">
                      <a16:colId xmlns:a16="http://schemas.microsoft.com/office/drawing/2014/main" val="2964136155"/>
                    </a:ext>
                  </a:extLst>
                </a:gridCol>
                <a:gridCol w="2853698">
                  <a:extLst>
                    <a:ext uri="{9D8B030D-6E8A-4147-A177-3AD203B41FA5}">
                      <a16:colId xmlns:a16="http://schemas.microsoft.com/office/drawing/2014/main" val="738966834"/>
                    </a:ext>
                  </a:extLst>
                </a:gridCol>
              </a:tblGrid>
              <a:tr h="446827">
                <a:tc>
                  <a:txBody>
                    <a:bodyPr/>
                    <a:lstStyle/>
                    <a:p>
                      <a:r>
                        <a:rPr lang="en-SE" dirty="0"/>
                        <a:t>Normalise 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Don’t normalise when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3260"/>
                  </a:ext>
                </a:extLst>
              </a:tr>
              <a:tr h="446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groups have very different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 size is the actual question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738986"/>
                  </a:ext>
                </a:extLst>
              </a:tr>
              <a:tr h="446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care about rates, not totals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denominator is unclear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265726"/>
                  </a:ext>
                </a:extLst>
              </a:tr>
              <a:tr h="4468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comparison should be fair across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normalization would hide important scale differences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83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64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ED1F4-D3BF-16AC-016E-93B4FC0CF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C139-0DBA-F8D5-C174-331D88CC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8141"/>
          </a:xfrm>
        </p:spPr>
        <p:txBody>
          <a:bodyPr>
            <a:normAutofit/>
          </a:bodyPr>
          <a:lstStyle/>
          <a:p>
            <a:r>
              <a:rPr lang="en-GB" b="1" dirty="0"/>
              <a:t>Dashboard design principles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00233-79D4-645A-F0E1-FF857425D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8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84E7B-B118-1D59-1804-D2B383028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79" y="335547"/>
            <a:ext cx="1171871" cy="11821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789B2C-39F8-0AF3-9DC2-A2151DD6B317}"/>
              </a:ext>
            </a:extLst>
          </p:cNvPr>
          <p:cNvSpPr txBox="1"/>
          <p:nvPr/>
        </p:nvSpPr>
        <p:spPr>
          <a:xfrm>
            <a:off x="8015288" y="50006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ABFE3E-4386-01C4-6FA8-7C6C356E102E}"/>
              </a:ext>
            </a:extLst>
          </p:cNvPr>
          <p:cNvSpPr txBox="1"/>
          <p:nvPr/>
        </p:nvSpPr>
        <p:spPr>
          <a:xfrm>
            <a:off x="954741" y="1547276"/>
            <a:ext cx="91977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Overview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Details on demand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Consistent </a:t>
            </a:r>
            <a:r>
              <a:rPr lang="en-GB" dirty="0" err="1"/>
              <a:t>colors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Readable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Purposeful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 both exploration and explanation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709A6F-753F-41A8-7DE9-038BD46EAF59}"/>
              </a:ext>
            </a:extLst>
          </p:cNvPr>
          <p:cNvSpPr txBox="1"/>
          <p:nvPr/>
        </p:nvSpPr>
        <p:spPr>
          <a:xfrm>
            <a:off x="954741" y="3615631"/>
            <a:ext cx="9197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 </a:t>
            </a:r>
            <a:r>
              <a:rPr lang="en-GB" b="1" dirty="0" err="1"/>
              <a:t>Swemper</a:t>
            </a:r>
            <a:r>
              <a:rPr lang="en-GB" b="1" dirty="0"/>
              <a:t> Dataset Explorer: 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compares journals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shows total data 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shows composition of categories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highlights completeness and missingness</a:t>
            </a:r>
          </a:p>
        </p:txBody>
      </p:sp>
    </p:spTree>
    <p:extLst>
      <p:ext uri="{BB962C8B-B14F-4D97-AF65-F5344CB8AC3E}">
        <p14:creationId xmlns:p14="http://schemas.microsoft.com/office/powerpoint/2010/main" val="326842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CCF4-D7FD-9E23-B482-083262B4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Workshop!!!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0CE2A-FF4E-B708-B164-0739E8A9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9</a:t>
            </a:fld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60A3-E270-55BB-6DEE-BFA66420A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Now: build a few visualizations in Python</a:t>
            </a:r>
            <a:endParaRPr lang="en-GB" dirty="0"/>
          </a:p>
          <a:p>
            <a:r>
              <a:rPr lang="en-GB" dirty="0"/>
              <a:t>We will use a small books metadata dataset to explore:</a:t>
            </a:r>
          </a:p>
          <a:p>
            <a:r>
              <a:rPr lang="en-GB" dirty="0"/>
              <a:t>bar charts</a:t>
            </a:r>
          </a:p>
          <a:p>
            <a:r>
              <a:rPr lang="en-GB" dirty="0"/>
              <a:t>pie charts</a:t>
            </a:r>
          </a:p>
          <a:p>
            <a:r>
              <a:rPr lang="en-GB" dirty="0"/>
              <a:t>timelines</a:t>
            </a:r>
          </a:p>
          <a:p>
            <a:r>
              <a:rPr lang="en-GB" dirty="0"/>
              <a:t>And more</a:t>
            </a:r>
          </a:p>
        </p:txBody>
      </p:sp>
    </p:spTree>
    <p:extLst>
      <p:ext uri="{BB962C8B-B14F-4D97-AF65-F5344CB8AC3E}">
        <p14:creationId xmlns:p14="http://schemas.microsoft.com/office/powerpoint/2010/main" val="381370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61E4-2187-A0AD-9D40-EA3CE76C8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4929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SE" sz="6600" b="1" dirty="0">
                <a:solidFill>
                  <a:srgbClr val="4B210E"/>
                </a:solidFill>
              </a:rPr>
              <a:t>T</a:t>
            </a:r>
            <a:r>
              <a:rPr lang="en-SE" sz="6600" b="1" dirty="0">
                <a:solidFill>
                  <a:srgbClr val="D5AB27"/>
                </a:solidFill>
              </a:rPr>
              <a:t>h</a:t>
            </a:r>
            <a:r>
              <a:rPr lang="en-SE" sz="6600" b="1" dirty="0">
                <a:solidFill>
                  <a:srgbClr val="9A36FA"/>
                </a:solidFill>
              </a:rPr>
              <a:t>a</a:t>
            </a:r>
            <a:r>
              <a:rPr lang="en-SE" sz="6600" b="1" dirty="0">
                <a:solidFill>
                  <a:srgbClr val="DB00D3"/>
                </a:solidFill>
              </a:rPr>
              <a:t>n</a:t>
            </a:r>
            <a:r>
              <a:rPr lang="en-SE" sz="6600" b="1" dirty="0">
                <a:solidFill>
                  <a:srgbClr val="66B4FB"/>
                </a:solidFill>
              </a:rPr>
              <a:t>k</a:t>
            </a:r>
            <a:r>
              <a:rPr lang="en-SE" sz="6600" b="1" dirty="0"/>
              <a:t> Y</a:t>
            </a:r>
            <a:r>
              <a:rPr lang="en-SE" sz="6600" b="1" dirty="0">
                <a:solidFill>
                  <a:srgbClr val="9A36FA"/>
                </a:solidFill>
              </a:rPr>
              <a:t>o</a:t>
            </a:r>
            <a:r>
              <a:rPr lang="en-SE" sz="6600" b="1" dirty="0">
                <a:solidFill>
                  <a:srgbClr val="6BBBAA"/>
                </a:solidFill>
              </a:rPr>
              <a:t>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B9E9-4B93-4A59-EC42-F400D44A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19EE7-A496-034D-B96C-56D03CB7B932}" type="slidenum">
              <a:rPr lang="en-SE" smtClean="0"/>
              <a:t>10</a:t>
            </a:fld>
            <a:endParaRPr lang="en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83530-68D6-0058-276E-3042BD02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79" y="365125"/>
            <a:ext cx="1171871" cy="118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76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ickoff_Presentation_RAG_25_Aug_25" id="{183005DD-EB36-2D43-8EC0-7CCF1461D50B}" vid="{3DEAAF8C-6732-A24B-B268-7498C8519F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914</Words>
  <Application>Microsoft Macintosh PowerPoint</Application>
  <PresentationFormat>Widescreen</PresentationFormat>
  <Paragraphs>165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Gill Sans MT</vt:lpstr>
      <vt:lpstr>Office Theme</vt:lpstr>
      <vt:lpstr>Visualizations in Digital Humanities</vt:lpstr>
      <vt:lpstr>Why visualization matters in Digital Humanities</vt:lpstr>
      <vt:lpstr>Start with the question, not the chart</vt:lpstr>
      <vt:lpstr>Match chart to analytical task</vt:lpstr>
      <vt:lpstr>Compare</vt:lpstr>
      <vt:lpstr>Compare</vt:lpstr>
      <vt:lpstr>Compare</vt:lpstr>
      <vt:lpstr>Scale and normalisation</vt:lpstr>
      <vt:lpstr>Dashboard design principles</vt:lpstr>
      <vt:lpstr>Workshop!!!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Sushruth Badri</dc:creator>
  <cp:lastModifiedBy>Sushruth Badri</cp:lastModifiedBy>
  <cp:revision>2</cp:revision>
  <dcterms:created xsi:type="dcterms:W3CDTF">2026-03-17T10:30:50Z</dcterms:created>
  <dcterms:modified xsi:type="dcterms:W3CDTF">2026-03-17T11:42:30Z</dcterms:modified>
</cp:coreProperties>
</file>